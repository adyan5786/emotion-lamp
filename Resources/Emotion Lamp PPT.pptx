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70"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embeddedFontLst>
    <p:embeddedFont>
      <p:font typeface="Gill Sans" panose="020B0604020202020204" charset="0"/>
      <p:regular r:id="rId17"/>
      <p:bold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3" roundtripDataSignature="AMtx7mh1rP2WVJBhT9R2BJBrlrT7vbK3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5EFCBB5-E8D9-4151-BCF0-574305E1CD60}">
  <a:tblStyle styleId="{75EFCBB5-E8D9-4151-BCF0-574305E1CD60}"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7" name="Google Shape;11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1" name="Google Shape;14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 name="Google Shape;14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3" name="Google Shape;15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9" name="Google Shape;159;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1" name="Google Shape;171;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7" name="Google Shape;17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8"/>
          <p:cNvSpPr txBox="1">
            <a:spLocks noGrp="1"/>
          </p:cNvSpPr>
          <p:nvPr>
            <p:ph type="dt" idx="10"/>
          </p:nvPr>
        </p:nvSpPr>
        <p:spPr>
          <a:xfrm>
            <a:off x="5559327" y="4467102"/>
            <a:ext cx="2133600" cy="2739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8"/>
          <p:cNvSpPr txBox="1">
            <a:spLocks noGrp="1"/>
          </p:cNvSpPr>
          <p:nvPr>
            <p:ph type="ftr" idx="11"/>
          </p:nvPr>
        </p:nvSpPr>
        <p:spPr>
          <a:xfrm>
            <a:off x="581192" y="4463858"/>
            <a:ext cx="48705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8"/>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9"/>
          <p:cNvSpPr/>
          <p:nvPr/>
        </p:nvSpPr>
        <p:spPr>
          <a:xfrm>
            <a:off x="448092" y="449794"/>
            <a:ext cx="8238600" cy="9441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21" name="Google Shape;21;p19"/>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9"/>
          <p:cNvSpPr txBox="1">
            <a:spLocks noGrp="1"/>
          </p:cNvSpPr>
          <p:nvPr>
            <p:ph type="body" idx="1"/>
          </p:nvPr>
        </p:nvSpPr>
        <p:spPr>
          <a:xfrm>
            <a:off x="581192" y="1671002"/>
            <a:ext cx="7989900" cy="2723100"/>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3" name="Google Shape;23;p19"/>
          <p:cNvSpPr txBox="1">
            <a:spLocks noGrp="1"/>
          </p:cNvSpPr>
          <p:nvPr>
            <p:ph type="dt" idx="10"/>
          </p:nvPr>
        </p:nvSpPr>
        <p:spPr>
          <a:xfrm>
            <a:off x="5559327" y="4467102"/>
            <a:ext cx="2133600" cy="2739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9"/>
          <p:cNvSpPr txBox="1">
            <a:spLocks noGrp="1"/>
          </p:cNvSpPr>
          <p:nvPr>
            <p:ph type="ftr" idx="11"/>
          </p:nvPr>
        </p:nvSpPr>
        <p:spPr>
          <a:xfrm>
            <a:off x="581192" y="4463858"/>
            <a:ext cx="48705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9"/>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26" name="Google Shape;26;p19"/>
          <p:cNvSpPr/>
          <p:nvPr/>
        </p:nvSpPr>
        <p:spPr>
          <a:xfrm>
            <a:off x="448092" y="449794"/>
            <a:ext cx="8238600" cy="9441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7"/>
        <p:cNvGrpSpPr/>
        <p:nvPr/>
      </p:nvGrpSpPr>
      <p:grpSpPr>
        <a:xfrm>
          <a:off x="0" y="0"/>
          <a:ext cx="0" cy="0"/>
          <a:chOff x="0" y="0"/>
          <a:chExt cx="0" cy="0"/>
        </a:xfrm>
      </p:grpSpPr>
      <p:sp>
        <p:nvSpPr>
          <p:cNvPr id="28" name="Google Shape;28;p20"/>
          <p:cNvSpPr/>
          <p:nvPr/>
        </p:nvSpPr>
        <p:spPr>
          <a:xfrm>
            <a:off x="448091" y="2314324"/>
            <a:ext cx="8240100" cy="24786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20"/>
          <p:cNvSpPr txBox="1">
            <a:spLocks noGrp="1"/>
          </p:cNvSpPr>
          <p:nvPr>
            <p:ph type="ctrTitle"/>
          </p:nvPr>
        </p:nvSpPr>
        <p:spPr>
          <a:xfrm>
            <a:off x="581192" y="742950"/>
            <a:ext cx="7989900" cy="1128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0"/>
          <p:cNvSpPr txBox="1">
            <a:spLocks noGrp="1"/>
          </p:cNvSpPr>
          <p:nvPr>
            <p:ph type="subTitle" idx="1"/>
          </p:nvPr>
        </p:nvSpPr>
        <p:spPr>
          <a:xfrm>
            <a:off x="581192" y="1871583"/>
            <a:ext cx="7989900" cy="442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31" name="Google Shape;31;p20"/>
          <p:cNvSpPr txBox="1">
            <a:spLocks noGrp="1"/>
          </p:cNvSpPr>
          <p:nvPr>
            <p:ph type="dt" idx="10"/>
          </p:nvPr>
        </p:nvSpPr>
        <p:spPr>
          <a:xfrm>
            <a:off x="5559327" y="4467102"/>
            <a:ext cx="2133600" cy="2739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6C80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0"/>
          <p:cNvSpPr txBox="1">
            <a:spLocks noGrp="1"/>
          </p:cNvSpPr>
          <p:nvPr>
            <p:ph type="ftr" idx="11"/>
          </p:nvPr>
        </p:nvSpPr>
        <p:spPr>
          <a:xfrm>
            <a:off x="581192" y="4463858"/>
            <a:ext cx="48705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6C80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0"/>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21"/>
          <p:cNvSpPr/>
          <p:nvPr/>
        </p:nvSpPr>
        <p:spPr>
          <a:xfrm>
            <a:off x="452646" y="3856480"/>
            <a:ext cx="8238600" cy="944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21"/>
          <p:cNvSpPr txBox="1">
            <a:spLocks noGrp="1"/>
          </p:cNvSpPr>
          <p:nvPr>
            <p:ph type="title"/>
          </p:nvPr>
        </p:nvSpPr>
        <p:spPr>
          <a:xfrm>
            <a:off x="581193" y="2277430"/>
            <a:ext cx="7989900" cy="1128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1"/>
          <p:cNvSpPr txBox="1">
            <a:spLocks noGrp="1"/>
          </p:cNvSpPr>
          <p:nvPr>
            <p:ph type="body" idx="1"/>
          </p:nvPr>
        </p:nvSpPr>
        <p:spPr>
          <a:xfrm>
            <a:off x="581193" y="3406063"/>
            <a:ext cx="7989900" cy="4503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8" name="Google Shape;38;p21"/>
          <p:cNvSpPr txBox="1">
            <a:spLocks noGrp="1"/>
          </p:cNvSpPr>
          <p:nvPr>
            <p:ph type="dt" idx="10"/>
          </p:nvPr>
        </p:nvSpPr>
        <p:spPr>
          <a:xfrm>
            <a:off x="5559327" y="4467102"/>
            <a:ext cx="2133600" cy="2739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6C80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1"/>
          <p:cNvSpPr txBox="1">
            <a:spLocks noGrp="1"/>
          </p:cNvSpPr>
          <p:nvPr>
            <p:ph type="ftr" idx="11"/>
          </p:nvPr>
        </p:nvSpPr>
        <p:spPr>
          <a:xfrm>
            <a:off x="581192" y="4463858"/>
            <a:ext cx="48705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6C80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1"/>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sp>
        <p:nvSpPr>
          <p:cNvPr id="42" name="Google Shape;42;p22"/>
          <p:cNvSpPr/>
          <p:nvPr/>
        </p:nvSpPr>
        <p:spPr>
          <a:xfrm>
            <a:off x="448092" y="449794"/>
            <a:ext cx="8238600" cy="944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22"/>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2"/>
          <p:cNvSpPr txBox="1">
            <a:spLocks noGrp="1"/>
          </p:cNvSpPr>
          <p:nvPr>
            <p:ph type="body" idx="1"/>
          </p:nvPr>
        </p:nvSpPr>
        <p:spPr>
          <a:xfrm>
            <a:off x="581192" y="1671002"/>
            <a:ext cx="3899400" cy="2724900"/>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5" name="Google Shape;45;p22"/>
          <p:cNvSpPr txBox="1">
            <a:spLocks noGrp="1"/>
          </p:cNvSpPr>
          <p:nvPr>
            <p:ph type="body" idx="2"/>
          </p:nvPr>
        </p:nvSpPr>
        <p:spPr>
          <a:xfrm>
            <a:off x="4663282" y="1671002"/>
            <a:ext cx="3907800" cy="2724900"/>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6" name="Google Shape;46;p22"/>
          <p:cNvSpPr txBox="1">
            <a:spLocks noGrp="1"/>
          </p:cNvSpPr>
          <p:nvPr>
            <p:ph type="dt" idx="10"/>
          </p:nvPr>
        </p:nvSpPr>
        <p:spPr>
          <a:xfrm>
            <a:off x="5559327" y="4467102"/>
            <a:ext cx="2133600" cy="2739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2"/>
          <p:cNvSpPr txBox="1">
            <a:spLocks noGrp="1"/>
          </p:cNvSpPr>
          <p:nvPr>
            <p:ph type="ftr" idx="11"/>
          </p:nvPr>
        </p:nvSpPr>
        <p:spPr>
          <a:xfrm>
            <a:off x="581192" y="4463858"/>
            <a:ext cx="48705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2"/>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23"/>
          <p:cNvSpPr/>
          <p:nvPr/>
        </p:nvSpPr>
        <p:spPr>
          <a:xfrm>
            <a:off x="448092" y="449794"/>
            <a:ext cx="8238600" cy="944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3"/>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2800"/>
              <a:buFont typeface="Gill Sans"/>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3"/>
          <p:cNvSpPr txBox="1">
            <a:spLocks noGrp="1"/>
          </p:cNvSpPr>
          <p:nvPr>
            <p:ph type="body" idx="1"/>
          </p:nvPr>
        </p:nvSpPr>
        <p:spPr>
          <a:xfrm>
            <a:off x="887219" y="1671002"/>
            <a:ext cx="3593400" cy="4323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3" name="Google Shape;53;p23"/>
          <p:cNvSpPr txBox="1">
            <a:spLocks noGrp="1"/>
          </p:cNvSpPr>
          <p:nvPr>
            <p:ph type="body" idx="2"/>
          </p:nvPr>
        </p:nvSpPr>
        <p:spPr>
          <a:xfrm>
            <a:off x="581192" y="2194538"/>
            <a:ext cx="3899400" cy="2201100"/>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4" name="Google Shape;54;p23"/>
          <p:cNvSpPr txBox="1">
            <a:spLocks noGrp="1"/>
          </p:cNvSpPr>
          <p:nvPr>
            <p:ph type="body" idx="3"/>
          </p:nvPr>
        </p:nvSpPr>
        <p:spPr>
          <a:xfrm>
            <a:off x="4969308" y="1671002"/>
            <a:ext cx="3601500" cy="4323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5" name="Google Shape;55;p23"/>
          <p:cNvSpPr txBox="1">
            <a:spLocks noGrp="1"/>
          </p:cNvSpPr>
          <p:nvPr>
            <p:ph type="body" idx="4"/>
          </p:nvPr>
        </p:nvSpPr>
        <p:spPr>
          <a:xfrm>
            <a:off x="4663282" y="2194538"/>
            <a:ext cx="3907800" cy="2201100"/>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6" name="Google Shape;56;p23"/>
          <p:cNvSpPr txBox="1">
            <a:spLocks noGrp="1"/>
          </p:cNvSpPr>
          <p:nvPr>
            <p:ph type="dt" idx="10"/>
          </p:nvPr>
        </p:nvSpPr>
        <p:spPr>
          <a:xfrm>
            <a:off x="5559327" y="4467102"/>
            <a:ext cx="2133600" cy="2739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3"/>
          <p:cNvSpPr txBox="1">
            <a:spLocks noGrp="1"/>
          </p:cNvSpPr>
          <p:nvPr>
            <p:ph type="ftr" idx="11"/>
          </p:nvPr>
        </p:nvSpPr>
        <p:spPr>
          <a:xfrm>
            <a:off x="581192" y="4463858"/>
            <a:ext cx="48705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3"/>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9"/>
        <p:cNvGrpSpPr/>
        <p:nvPr/>
      </p:nvGrpSpPr>
      <p:grpSpPr>
        <a:xfrm>
          <a:off x="0" y="0"/>
          <a:ext cx="0" cy="0"/>
          <a:chOff x="0" y="0"/>
          <a:chExt cx="0" cy="0"/>
        </a:xfrm>
      </p:grpSpPr>
      <p:sp>
        <p:nvSpPr>
          <p:cNvPr id="60" name="Google Shape;60;p24"/>
          <p:cNvSpPr/>
          <p:nvPr/>
        </p:nvSpPr>
        <p:spPr>
          <a:xfrm>
            <a:off x="448092" y="449794"/>
            <a:ext cx="8238600" cy="944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24"/>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4"/>
          <p:cNvSpPr txBox="1">
            <a:spLocks noGrp="1"/>
          </p:cNvSpPr>
          <p:nvPr>
            <p:ph type="dt" idx="10"/>
          </p:nvPr>
        </p:nvSpPr>
        <p:spPr>
          <a:xfrm>
            <a:off x="5559327" y="4467102"/>
            <a:ext cx="2133600" cy="2739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4"/>
          <p:cNvSpPr txBox="1">
            <a:spLocks noGrp="1"/>
          </p:cNvSpPr>
          <p:nvPr>
            <p:ph type="ftr" idx="11"/>
          </p:nvPr>
        </p:nvSpPr>
        <p:spPr>
          <a:xfrm>
            <a:off x="581192" y="4463858"/>
            <a:ext cx="48705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4"/>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25"/>
          <p:cNvSpPr/>
          <p:nvPr/>
        </p:nvSpPr>
        <p:spPr>
          <a:xfrm>
            <a:off x="452646" y="3856480"/>
            <a:ext cx="8238600" cy="956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25"/>
          <p:cNvSpPr txBox="1">
            <a:spLocks noGrp="1"/>
          </p:cNvSpPr>
          <p:nvPr>
            <p:ph type="title"/>
          </p:nvPr>
        </p:nvSpPr>
        <p:spPr>
          <a:xfrm>
            <a:off x="581352" y="3946722"/>
            <a:ext cx="3536700" cy="5172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6C8089"/>
              </a:buClr>
              <a:buSzPts val="2000"/>
              <a:buFont typeface="Gill Sans"/>
              <a:buNone/>
              <a:defRPr sz="2000" b="0">
                <a:solidFill>
                  <a:srgbClr val="6C80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5"/>
          <p:cNvSpPr txBox="1">
            <a:spLocks noGrp="1"/>
          </p:cNvSpPr>
          <p:nvPr>
            <p:ph type="body" idx="1"/>
          </p:nvPr>
        </p:nvSpPr>
        <p:spPr>
          <a:xfrm>
            <a:off x="446399" y="450900"/>
            <a:ext cx="8240400" cy="31536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69" name="Google Shape;69;p25"/>
          <p:cNvSpPr txBox="1">
            <a:spLocks noGrp="1"/>
          </p:cNvSpPr>
          <p:nvPr>
            <p:ph type="body" idx="2"/>
          </p:nvPr>
        </p:nvSpPr>
        <p:spPr>
          <a:xfrm>
            <a:off x="4305617" y="3946721"/>
            <a:ext cx="4265400" cy="517200"/>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0" name="Google Shape;70;p25"/>
          <p:cNvSpPr txBox="1">
            <a:spLocks noGrp="1"/>
          </p:cNvSpPr>
          <p:nvPr>
            <p:ph type="dt" idx="10"/>
          </p:nvPr>
        </p:nvSpPr>
        <p:spPr>
          <a:xfrm>
            <a:off x="5559327" y="4467102"/>
            <a:ext cx="2133600" cy="2739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6C80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5"/>
          <p:cNvSpPr txBox="1">
            <a:spLocks noGrp="1"/>
          </p:cNvSpPr>
          <p:nvPr>
            <p:ph type="ftr" idx="11"/>
          </p:nvPr>
        </p:nvSpPr>
        <p:spPr>
          <a:xfrm>
            <a:off x="581192" y="4463858"/>
            <a:ext cx="48705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6C80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5"/>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26"/>
          <p:cNvSpPr txBox="1">
            <a:spLocks noGrp="1"/>
          </p:cNvSpPr>
          <p:nvPr>
            <p:ph type="title"/>
          </p:nvPr>
        </p:nvSpPr>
        <p:spPr>
          <a:xfrm>
            <a:off x="581192" y="3520042"/>
            <a:ext cx="7989900" cy="4251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6"/>
          <p:cNvSpPr>
            <a:spLocks noGrp="1"/>
          </p:cNvSpPr>
          <p:nvPr>
            <p:ph type="pic" idx="2"/>
          </p:nvPr>
        </p:nvSpPr>
        <p:spPr>
          <a:xfrm>
            <a:off x="448093" y="449794"/>
            <a:ext cx="8238600" cy="2667900"/>
          </a:xfrm>
          <a:prstGeom prst="rect">
            <a:avLst/>
          </a:prstGeom>
          <a:noFill/>
          <a:ln>
            <a:noFill/>
          </a:ln>
        </p:spPr>
        <p:txBody>
          <a:bodyPr/>
          <a:lstStyle/>
          <a:p>
            <a:endParaRPr lang="en-US"/>
          </a:p>
        </p:txBody>
      </p:sp>
      <p:sp>
        <p:nvSpPr>
          <p:cNvPr id="76" name="Google Shape;76;p26"/>
          <p:cNvSpPr txBox="1">
            <a:spLocks noGrp="1"/>
          </p:cNvSpPr>
          <p:nvPr>
            <p:ph type="body" idx="1"/>
          </p:nvPr>
        </p:nvSpPr>
        <p:spPr>
          <a:xfrm>
            <a:off x="581192" y="3945095"/>
            <a:ext cx="7989900" cy="4491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7" name="Google Shape;77;p26"/>
          <p:cNvSpPr txBox="1">
            <a:spLocks noGrp="1"/>
          </p:cNvSpPr>
          <p:nvPr>
            <p:ph type="dt" idx="10"/>
          </p:nvPr>
        </p:nvSpPr>
        <p:spPr>
          <a:xfrm>
            <a:off x="5559327" y="4467102"/>
            <a:ext cx="2133600" cy="2739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6"/>
          <p:cNvSpPr txBox="1">
            <a:spLocks noGrp="1"/>
          </p:cNvSpPr>
          <p:nvPr>
            <p:ph type="ftr" idx="11"/>
          </p:nvPr>
        </p:nvSpPr>
        <p:spPr>
          <a:xfrm>
            <a:off x="581192" y="4463858"/>
            <a:ext cx="48705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6"/>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0"/>
        <p:cNvGrpSpPr/>
        <p:nvPr/>
      </p:nvGrpSpPr>
      <p:grpSpPr>
        <a:xfrm>
          <a:off x="0" y="0"/>
          <a:ext cx="0" cy="0"/>
          <a:chOff x="0" y="0"/>
          <a:chExt cx="0" cy="0"/>
        </a:xfrm>
      </p:grpSpPr>
      <p:sp>
        <p:nvSpPr>
          <p:cNvPr id="81" name="Google Shape;81;p27"/>
          <p:cNvSpPr/>
          <p:nvPr/>
        </p:nvSpPr>
        <p:spPr>
          <a:xfrm>
            <a:off x="448092" y="449794"/>
            <a:ext cx="8238600" cy="944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7"/>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7"/>
          <p:cNvSpPr txBox="1">
            <a:spLocks noGrp="1"/>
          </p:cNvSpPr>
          <p:nvPr>
            <p:ph type="body" idx="1"/>
          </p:nvPr>
        </p:nvSpPr>
        <p:spPr>
          <a:xfrm rot="5400000">
            <a:off x="3214444" y="-962398"/>
            <a:ext cx="2723100" cy="7989900"/>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3"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4" name="Google Shape;84;p27"/>
          <p:cNvSpPr txBox="1">
            <a:spLocks noGrp="1"/>
          </p:cNvSpPr>
          <p:nvPr>
            <p:ph type="dt" idx="10"/>
          </p:nvPr>
        </p:nvSpPr>
        <p:spPr>
          <a:xfrm>
            <a:off x="5559327" y="4467102"/>
            <a:ext cx="2133600" cy="2739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7"/>
          <p:cNvSpPr txBox="1">
            <a:spLocks noGrp="1"/>
          </p:cNvSpPr>
          <p:nvPr>
            <p:ph type="ftr" idx="11"/>
          </p:nvPr>
        </p:nvSpPr>
        <p:spPr>
          <a:xfrm>
            <a:off x="581192" y="4463858"/>
            <a:ext cx="48705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7"/>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28"/>
          <p:cNvSpPr/>
          <p:nvPr/>
        </p:nvSpPr>
        <p:spPr>
          <a:xfrm>
            <a:off x="6629400" y="449794"/>
            <a:ext cx="2057400" cy="43626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28"/>
          <p:cNvSpPr txBox="1">
            <a:spLocks noGrp="1"/>
          </p:cNvSpPr>
          <p:nvPr>
            <p:ph type="title"/>
          </p:nvPr>
        </p:nvSpPr>
        <p:spPr>
          <a:xfrm rot="5400000">
            <a:off x="5437323" y="1698994"/>
            <a:ext cx="3887400" cy="15030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28"/>
          <p:cNvSpPr txBox="1">
            <a:spLocks noGrp="1"/>
          </p:cNvSpPr>
          <p:nvPr>
            <p:ph type="body" idx="1"/>
          </p:nvPr>
        </p:nvSpPr>
        <p:spPr>
          <a:xfrm rot="5400000">
            <a:off x="1598551" y="-510656"/>
            <a:ext cx="3887400" cy="5922300"/>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91" name="Google Shape;91;p28"/>
          <p:cNvSpPr txBox="1">
            <a:spLocks noGrp="1"/>
          </p:cNvSpPr>
          <p:nvPr>
            <p:ph type="dt" idx="10"/>
          </p:nvPr>
        </p:nvSpPr>
        <p:spPr>
          <a:xfrm>
            <a:off x="6745255" y="4467102"/>
            <a:ext cx="947700" cy="2739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6C80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8"/>
          <p:cNvSpPr txBox="1">
            <a:spLocks noGrp="1"/>
          </p:cNvSpPr>
          <p:nvPr>
            <p:ph type="ftr" idx="11"/>
          </p:nvPr>
        </p:nvSpPr>
        <p:spPr>
          <a:xfrm>
            <a:off x="581192" y="4463858"/>
            <a:ext cx="59223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28"/>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6C808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7"/>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7" name="Google Shape;7;p17"/>
          <p:cNvSpPr txBox="1">
            <a:spLocks noGrp="1"/>
          </p:cNvSpPr>
          <p:nvPr>
            <p:ph type="body" idx="1"/>
          </p:nvPr>
        </p:nvSpPr>
        <p:spPr>
          <a:xfrm>
            <a:off x="581192" y="1671002"/>
            <a:ext cx="7989900" cy="2723100"/>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8" name="Google Shape;8;p17"/>
          <p:cNvSpPr txBox="1">
            <a:spLocks noGrp="1"/>
          </p:cNvSpPr>
          <p:nvPr>
            <p:ph type="dt" idx="10"/>
          </p:nvPr>
        </p:nvSpPr>
        <p:spPr>
          <a:xfrm>
            <a:off x="5559327" y="4467102"/>
            <a:ext cx="2133600" cy="27390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9" name="Google Shape;9;p17"/>
          <p:cNvSpPr txBox="1">
            <a:spLocks noGrp="1"/>
          </p:cNvSpPr>
          <p:nvPr>
            <p:ph type="ftr" idx="11"/>
          </p:nvPr>
        </p:nvSpPr>
        <p:spPr>
          <a:xfrm>
            <a:off x="581192" y="4463858"/>
            <a:ext cx="4870500" cy="27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0" name="Google Shape;10;p17"/>
          <p:cNvSpPr txBox="1">
            <a:spLocks noGrp="1"/>
          </p:cNvSpPr>
          <p:nvPr>
            <p:ph type="sldNum" idx="12"/>
          </p:nvPr>
        </p:nvSpPr>
        <p:spPr>
          <a:xfrm>
            <a:off x="7800476" y="4467102"/>
            <a:ext cx="770400" cy="27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1" name="Google Shape;11;p17"/>
          <p:cNvSpPr/>
          <p:nvPr/>
        </p:nvSpPr>
        <p:spPr>
          <a:xfrm>
            <a:off x="448091" y="330994"/>
            <a:ext cx="2719800" cy="81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2" name="Google Shape;12;p17"/>
          <p:cNvSpPr/>
          <p:nvPr/>
        </p:nvSpPr>
        <p:spPr>
          <a:xfrm>
            <a:off x="5976001" y="330994"/>
            <a:ext cx="2710800" cy="81000"/>
          </a:xfrm>
          <a:prstGeom prst="rect">
            <a:avLst/>
          </a:pr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3" name="Google Shape;13;p17"/>
          <p:cNvSpPr/>
          <p:nvPr/>
        </p:nvSpPr>
        <p:spPr>
          <a:xfrm>
            <a:off x="3216601" y="330994"/>
            <a:ext cx="2710800" cy="810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4" name="Google Shape;14;p17" descr="A picture containing symbol, logo, graphics, emblem&#10;&#10;Description automatically generated"/>
          <p:cNvPicPr preferRelativeResize="0"/>
          <p:nvPr/>
        </p:nvPicPr>
        <p:blipFill rotWithShape="1">
          <a:blip r:embed="rId13">
            <a:alphaModFix/>
          </a:blip>
          <a:srcRect/>
          <a:stretch/>
        </p:blipFill>
        <p:spPr>
          <a:xfrm>
            <a:off x="8735401" y="40945"/>
            <a:ext cx="440355" cy="33954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
          <p:cNvSpPr txBox="1"/>
          <p:nvPr/>
        </p:nvSpPr>
        <p:spPr>
          <a:xfrm>
            <a:off x="577124" y="1691399"/>
            <a:ext cx="7989900" cy="3645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dk1"/>
              </a:buClr>
              <a:buSzPts val="1600"/>
              <a:buFont typeface="Gill Sans"/>
              <a:buNone/>
            </a:pPr>
            <a:r>
              <a:rPr lang="en-US" sz="1600" b="1" cap="none" dirty="0">
                <a:solidFill>
                  <a:schemeClr val="dk1"/>
                </a:solidFill>
                <a:latin typeface="Gill Sans"/>
                <a:ea typeface="Gill Sans"/>
                <a:cs typeface="Gill Sans"/>
                <a:sym typeface="Gill Sans"/>
              </a:rPr>
              <a:t>MINI PROJECT 2B</a:t>
            </a:r>
            <a:endParaRPr dirty="0"/>
          </a:p>
        </p:txBody>
      </p:sp>
      <p:sp>
        <p:nvSpPr>
          <p:cNvPr id="99" name="Google Shape;99;p1"/>
          <p:cNvSpPr txBox="1"/>
          <p:nvPr/>
        </p:nvSpPr>
        <p:spPr>
          <a:xfrm>
            <a:off x="465369" y="2817401"/>
            <a:ext cx="7688400" cy="13020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chemeClr val="accent2"/>
              </a:buClr>
              <a:buSzPts val="1288"/>
              <a:buFont typeface="Noto Sans Symbols"/>
              <a:buNone/>
            </a:pPr>
            <a:r>
              <a:rPr lang="en-US" sz="1400" b="1" dirty="0">
                <a:solidFill>
                  <a:schemeClr val="dk2"/>
                </a:solidFill>
                <a:latin typeface="Gill Sans"/>
                <a:ea typeface="Gill Sans"/>
                <a:cs typeface="Gill Sans"/>
                <a:sym typeface="Gill Sans"/>
              </a:rPr>
              <a:t>Team Members: </a:t>
            </a:r>
            <a:endParaRPr dirty="0"/>
          </a:p>
          <a:p>
            <a:pPr marL="306000" marR="0" lvl="0" indent="-306000" rtl="0">
              <a:spcBef>
                <a:spcPts val="880"/>
              </a:spcBef>
              <a:spcAft>
                <a:spcPts val="0"/>
              </a:spcAft>
              <a:buClr>
                <a:schemeClr val="accent2"/>
              </a:buClr>
              <a:buSzPts val="1288"/>
              <a:buFont typeface="Noto Sans Symbols"/>
              <a:buChar char="◼"/>
            </a:pPr>
            <a:r>
              <a:rPr lang="en-US" sz="1400" dirty="0">
                <a:solidFill>
                  <a:schemeClr val="dk2"/>
                </a:solidFill>
                <a:latin typeface="Gill Sans"/>
                <a:ea typeface="Gill Sans"/>
                <a:cs typeface="Gill Sans"/>
                <a:sym typeface="Gill Sans"/>
              </a:rPr>
              <a:t>1 </a:t>
            </a:r>
            <a:r>
              <a:rPr lang="en-US" sz="1400" dirty="0">
                <a:solidFill>
                  <a:schemeClr val="dk2"/>
                </a:solidFill>
                <a:latin typeface="Gill Sans" panose="020B0604020202020204" charset="0"/>
                <a:ea typeface="Gill Sans"/>
                <a:cs typeface="Gill Sans"/>
                <a:sym typeface="Gill Sans"/>
              </a:rPr>
              <a:t>Choudhry Abdul Rehman Mohd Asim</a:t>
            </a:r>
            <a:endParaRPr dirty="0">
              <a:latin typeface="Gill Sans" panose="020B0604020202020204" charset="0"/>
            </a:endParaRPr>
          </a:p>
          <a:p>
            <a:pPr marL="306000" marR="0" lvl="0" indent="-306000" rtl="0">
              <a:spcBef>
                <a:spcPts val="880"/>
              </a:spcBef>
              <a:spcAft>
                <a:spcPts val="0"/>
              </a:spcAft>
              <a:buClr>
                <a:schemeClr val="accent2"/>
              </a:buClr>
              <a:buSzPts val="1288"/>
              <a:buFont typeface="Noto Sans Symbols"/>
              <a:buChar char="◼"/>
            </a:pPr>
            <a:r>
              <a:rPr lang="en-US" sz="1400" dirty="0">
                <a:solidFill>
                  <a:schemeClr val="dk2"/>
                </a:solidFill>
                <a:latin typeface="Gill Sans" panose="020B0604020202020204" charset="0"/>
                <a:ea typeface="Gill Sans"/>
                <a:cs typeface="Gill Sans"/>
                <a:sym typeface="Gill Sans"/>
              </a:rPr>
              <a:t>2</a:t>
            </a:r>
            <a:r>
              <a:rPr lang="en-US" dirty="0">
                <a:solidFill>
                  <a:schemeClr val="dk2"/>
                </a:solidFill>
                <a:latin typeface="Gill Sans" panose="020B0604020202020204" charset="0"/>
                <a:ea typeface="Gill Sans"/>
                <a:cs typeface="Gill Sans"/>
                <a:sym typeface="Gill Sans"/>
              </a:rPr>
              <a:t> </a:t>
            </a:r>
            <a:r>
              <a:rPr lang="en-US" sz="1400" dirty="0">
                <a:solidFill>
                  <a:schemeClr val="dk2"/>
                </a:solidFill>
                <a:latin typeface="Gill Sans" panose="020B0604020202020204" charset="0"/>
                <a:ea typeface="Gill Sans"/>
                <a:cs typeface="Gill Sans"/>
                <a:sym typeface="Gill Sans"/>
              </a:rPr>
              <a:t>Sadriwala Mohammed Firoz</a:t>
            </a:r>
            <a:endParaRPr dirty="0">
              <a:latin typeface="Gill Sans" panose="020B0604020202020204" charset="0"/>
            </a:endParaRPr>
          </a:p>
          <a:p>
            <a:pPr marL="306000" marR="0" lvl="0" indent="-306000" rtl="0">
              <a:spcBef>
                <a:spcPts val="880"/>
              </a:spcBef>
              <a:spcAft>
                <a:spcPts val="0"/>
              </a:spcAft>
              <a:buClr>
                <a:schemeClr val="accent2"/>
              </a:buClr>
              <a:buSzPts val="1288"/>
              <a:buFont typeface="Noto Sans Symbols"/>
              <a:buChar char="◼"/>
            </a:pPr>
            <a:r>
              <a:rPr lang="en-US" sz="1400" dirty="0">
                <a:solidFill>
                  <a:schemeClr val="dk2"/>
                </a:solidFill>
                <a:latin typeface="Gill Sans" panose="020B0604020202020204" charset="0"/>
                <a:ea typeface="Gill Sans"/>
                <a:cs typeface="Gill Sans"/>
                <a:sym typeface="Gill Sans"/>
              </a:rPr>
              <a:t>3 Shaikh Adyan Ataullah</a:t>
            </a:r>
            <a:endParaRPr dirty="0">
              <a:latin typeface="Gill Sans" panose="020B0604020202020204" charset="0"/>
            </a:endParaRPr>
          </a:p>
          <a:p>
            <a:pPr marL="306000" marR="0" lvl="0" indent="-306000" rtl="0">
              <a:spcBef>
                <a:spcPts val="880"/>
              </a:spcBef>
              <a:spcAft>
                <a:spcPts val="0"/>
              </a:spcAft>
              <a:buClr>
                <a:schemeClr val="accent2"/>
              </a:buClr>
              <a:buSzPts val="1288"/>
              <a:buFont typeface="Noto Sans Symbols"/>
              <a:buChar char="◼"/>
            </a:pPr>
            <a:r>
              <a:rPr lang="en-US" sz="1400" dirty="0">
                <a:solidFill>
                  <a:schemeClr val="dk2"/>
                </a:solidFill>
                <a:latin typeface="Gill Sans"/>
                <a:ea typeface="Gill Sans"/>
                <a:cs typeface="Gill Sans"/>
                <a:sym typeface="Gill Sans"/>
              </a:rPr>
              <a:t>4 Pathan Mugaira Zakeer</a:t>
            </a:r>
            <a:endParaRPr dirty="0"/>
          </a:p>
          <a:p>
            <a:pPr marL="306000" marR="0" lvl="0" indent="-224212" algn="ctr" rtl="0">
              <a:spcBef>
                <a:spcPts val="880"/>
              </a:spcBef>
              <a:spcAft>
                <a:spcPts val="0"/>
              </a:spcAft>
              <a:buClr>
                <a:schemeClr val="accent2"/>
              </a:buClr>
              <a:buSzPts val="1288"/>
              <a:buFont typeface="Noto Sans Symbols"/>
              <a:buNone/>
            </a:pPr>
            <a:endParaRPr sz="1400" dirty="0">
              <a:solidFill>
                <a:schemeClr val="dk2"/>
              </a:solidFill>
              <a:latin typeface="Gill Sans"/>
              <a:ea typeface="Gill Sans"/>
              <a:cs typeface="Gill Sans"/>
              <a:sym typeface="Gill Sans"/>
            </a:endParaRPr>
          </a:p>
        </p:txBody>
      </p:sp>
      <p:sp>
        <p:nvSpPr>
          <p:cNvPr id="100" name="Google Shape;100;p1"/>
          <p:cNvSpPr txBox="1"/>
          <p:nvPr/>
        </p:nvSpPr>
        <p:spPr>
          <a:xfrm>
            <a:off x="577050" y="4393200"/>
            <a:ext cx="7052700" cy="750300"/>
          </a:xfrm>
          <a:prstGeom prst="rect">
            <a:avLst/>
          </a:prstGeom>
          <a:noFill/>
          <a:ln>
            <a:noFill/>
          </a:ln>
        </p:spPr>
        <p:txBody>
          <a:bodyPr spcFirstLastPara="1" wrap="square" lIns="91425" tIns="45700" rIns="91425" bIns="45700" anchor="ctr" anchorCtr="0">
            <a:normAutofit/>
          </a:bodyPr>
          <a:lstStyle/>
          <a:p>
            <a:pPr lvl="0">
              <a:buClr>
                <a:srgbClr val="343E42"/>
              </a:buClr>
              <a:buSzPts val="2610"/>
            </a:pPr>
            <a:r>
              <a:rPr lang="en-US" sz="2000" b="1" cap="none" dirty="0">
                <a:solidFill>
                  <a:schemeClr val="dk1"/>
                </a:solidFill>
                <a:latin typeface="Gill Sans" panose="020B0604020202020204" charset="0"/>
                <a:ea typeface="Gill Sans"/>
                <a:cs typeface="Gill Sans"/>
                <a:sym typeface="Gill Sans"/>
              </a:rPr>
              <a:t>Guide: </a:t>
            </a:r>
            <a:r>
              <a:rPr lang="en-US" sz="2000" dirty="0">
                <a:latin typeface="Gill Sans" panose="020B0604020202020204" charset="0"/>
              </a:rPr>
              <a:t>PROF. SHIBURAJ PAPPU</a:t>
            </a:r>
            <a:endParaRPr dirty="0">
              <a:latin typeface="Gill Sans" panose="020B0604020202020204" charset="0"/>
            </a:endParaRPr>
          </a:p>
        </p:txBody>
      </p:sp>
      <p:sp>
        <p:nvSpPr>
          <p:cNvPr id="101" name="Google Shape;101;p1"/>
          <p:cNvSpPr txBox="1"/>
          <p:nvPr/>
        </p:nvSpPr>
        <p:spPr>
          <a:xfrm>
            <a:off x="577050" y="2112818"/>
            <a:ext cx="7989900" cy="593314"/>
          </a:xfrm>
          <a:prstGeom prst="rect">
            <a:avLst/>
          </a:prstGeom>
          <a:noFill/>
          <a:ln>
            <a:noFill/>
          </a:ln>
        </p:spPr>
        <p:txBody>
          <a:bodyPr spcFirstLastPara="1" wrap="square" lIns="91425" tIns="45700" rIns="91425" bIns="45700" anchor="t" anchorCtr="0">
            <a:normAutofit fontScale="92500"/>
          </a:bodyPr>
          <a:lstStyle/>
          <a:p>
            <a:r>
              <a:rPr lang="en-US" sz="2000" b="1" dirty="0">
                <a:solidFill>
                  <a:srgbClr val="FF0000"/>
                </a:solidFill>
              </a:rPr>
              <a:t>Emotion Lamp — Converts Ambient Sound Patterns to Light Moods</a:t>
            </a:r>
          </a:p>
        </p:txBody>
      </p:sp>
      <p:pic>
        <p:nvPicPr>
          <p:cNvPr id="102" name="Google Shape;102;p1"/>
          <p:cNvPicPr preferRelativeResize="0"/>
          <p:nvPr/>
        </p:nvPicPr>
        <p:blipFill>
          <a:blip r:embed="rId3">
            <a:alphaModFix/>
          </a:blip>
          <a:stretch>
            <a:fillRect/>
          </a:stretch>
        </p:blipFill>
        <p:spPr>
          <a:xfrm>
            <a:off x="1747490" y="491086"/>
            <a:ext cx="5013319" cy="10872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7"/>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1800"/>
              <a:buNone/>
            </a:pPr>
            <a:r>
              <a:rPr lang="en-US" dirty="0"/>
              <a:t>Problem Statement</a:t>
            </a:r>
            <a:endParaRPr dirty="0"/>
          </a:p>
        </p:txBody>
      </p:sp>
      <p:sp>
        <p:nvSpPr>
          <p:cNvPr id="108" name="Google Shape;108;p7"/>
          <p:cNvSpPr txBox="1">
            <a:spLocks noGrp="1"/>
          </p:cNvSpPr>
          <p:nvPr>
            <p:ph type="body" idx="1"/>
          </p:nvPr>
        </p:nvSpPr>
        <p:spPr>
          <a:xfrm>
            <a:off x="165556" y="1657147"/>
            <a:ext cx="7989900" cy="2723100"/>
          </a:xfrm>
          <a:prstGeom prst="rect">
            <a:avLst/>
          </a:prstGeom>
          <a:noFill/>
          <a:ln>
            <a:noFill/>
          </a:ln>
        </p:spPr>
        <p:txBody>
          <a:bodyPr spcFirstLastPara="1" wrap="square" lIns="91425" tIns="45700" rIns="91425" bIns="45700" anchor="ctr" anchorCtr="0">
            <a:normAutofit/>
          </a:bodyPr>
          <a:lstStyle/>
          <a:p>
            <a:pPr lvl="0" indent="-228600" algn="just">
              <a:buNone/>
            </a:pPr>
            <a:r>
              <a:rPr lang="en-US" dirty="0"/>
              <a:t>    In modern indoor environments such as homes, offices, and study spaces, ambient emotional conditions often go unnoticed despite having a significant impact on human comfort and productivity. Existing sound-reactive lighting systems primarily focus on detecting music beats or volume levels, which limits their applicability and expressiveness. There is a need for an intelligent yet low-cost system that can interpret </a:t>
            </a:r>
            <a:r>
              <a:rPr lang="en-US" b="1" dirty="0"/>
              <a:t>environmental sound patterns</a:t>
            </a:r>
            <a:r>
              <a:rPr lang="en-US" dirty="0"/>
              <a:t>, such as voice tone, amplitude, silence, and sudden noise, and convert them into meaningful visual feedback through lighting.</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cap="none">
                <a:solidFill>
                  <a:schemeClr val="lt1"/>
                </a:solidFill>
                <a:latin typeface="Gill Sans"/>
                <a:ea typeface="Gill Sans"/>
                <a:cs typeface="Gill Sans"/>
                <a:sym typeface="Gill Sans"/>
              </a:rPr>
              <a:t>ABSTRACT</a:t>
            </a:r>
            <a:endParaRPr/>
          </a:p>
        </p:txBody>
      </p:sp>
      <p:sp>
        <p:nvSpPr>
          <p:cNvPr id="114" name="Google Shape;114;p2"/>
          <p:cNvSpPr txBox="1">
            <a:spLocks noGrp="1"/>
          </p:cNvSpPr>
          <p:nvPr>
            <p:ph type="body" idx="1"/>
          </p:nvPr>
        </p:nvSpPr>
        <p:spPr>
          <a:xfrm>
            <a:off x="581192" y="1671002"/>
            <a:ext cx="7989900" cy="2723100"/>
          </a:xfrm>
          <a:prstGeom prst="rect">
            <a:avLst/>
          </a:prstGeom>
          <a:noFill/>
          <a:ln>
            <a:noFill/>
          </a:ln>
        </p:spPr>
        <p:txBody>
          <a:bodyPr spcFirstLastPara="1" wrap="square" lIns="91425" tIns="45700" rIns="91425" bIns="45700" anchor="ctr" anchorCtr="0">
            <a:normAutofit/>
          </a:bodyPr>
          <a:lstStyle/>
          <a:p>
            <a:pPr marL="0" indent="0" algn="just">
              <a:spcBef>
                <a:spcPts val="0"/>
              </a:spcBef>
              <a:buNone/>
            </a:pPr>
            <a:r>
              <a:rPr lang="en-US" dirty="0"/>
              <a:t>Emotion Lamp is a simple IoT project that changes light color and intensity based on surrounding sound. It uses a microphone to measure sound volume and frequency patterns and maps them to different light moods in real time. The project focuses on visualizing the overall sound environment of a room rather than detecting individual emotions, demonstrating basic signal processing and embedded system control.</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3"/>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cap="none">
                <a:solidFill>
                  <a:schemeClr val="lt1"/>
                </a:solidFill>
                <a:latin typeface="Gill Sans"/>
                <a:ea typeface="Gill Sans"/>
                <a:cs typeface="Gill Sans"/>
                <a:sym typeface="Gill Sans"/>
              </a:rPr>
              <a:t>TABLE OF CONTENTS</a:t>
            </a:r>
            <a:endParaRPr/>
          </a:p>
        </p:txBody>
      </p:sp>
      <p:sp>
        <p:nvSpPr>
          <p:cNvPr id="3" name="Text Placeholder 2">
            <a:extLst>
              <a:ext uri="{FF2B5EF4-FFF2-40B4-BE49-F238E27FC236}">
                <a16:creationId xmlns:a16="http://schemas.microsoft.com/office/drawing/2014/main" id="{B6ADDC78-6477-FAD6-E213-AA53FF204B9B}"/>
              </a:ext>
            </a:extLst>
          </p:cNvPr>
          <p:cNvSpPr>
            <a:spLocks noGrp="1" noChangeArrowheads="1"/>
          </p:cNvSpPr>
          <p:nvPr>
            <p:ph type="body" idx="1"/>
          </p:nvPr>
        </p:nvSpPr>
        <p:spPr bwMode="auto">
          <a:xfrm>
            <a:off x="581025" y="1740257"/>
            <a:ext cx="4235455"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Gill Sans" panose="020B0604020202020204" charset="0"/>
              </a:rPr>
              <a:t>Introduction</a:t>
            </a:r>
          </a:p>
          <a:p>
            <a:pPr marL="0" marR="0" lvl="0" indent="0" algn="just" defTabSz="91440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Gill Sans" panose="020B0604020202020204" charset="0"/>
              </a:rPr>
              <a:t>Problem Statement</a:t>
            </a:r>
          </a:p>
          <a:p>
            <a:pPr marL="0" marR="0" lvl="0" indent="0" algn="just" defTabSz="91440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Gill Sans" panose="020B0604020202020204" charset="0"/>
              </a:rPr>
              <a:t>Literature Review</a:t>
            </a:r>
          </a:p>
          <a:p>
            <a:pPr marL="0" marR="0" lvl="0" indent="0" algn="just" defTabSz="91440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Gill Sans" panose="020B0604020202020204" charset="0"/>
              </a:rPr>
              <a:t>Requirement Analysis and Feasibility Study</a:t>
            </a:r>
          </a:p>
          <a:p>
            <a:pPr marL="0" marR="0" lvl="0" indent="0" algn="just" defTabSz="91440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Gill Sans" panose="020B0604020202020204" charset="0"/>
              </a:rPr>
              <a:t>Proposed System</a:t>
            </a:r>
          </a:p>
          <a:p>
            <a:pPr marL="0" marR="0" lvl="0" indent="0" algn="just" defTabSz="91440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Gill Sans" panose="020B0604020202020204" charset="0"/>
              </a:rPr>
              <a:t>Objectives of Proposed Work</a:t>
            </a:r>
          </a:p>
          <a:p>
            <a:pPr marL="0" marR="0" lvl="0" indent="0" algn="just" defTabSz="91440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Gill Sans" panose="020B0604020202020204" charset="0"/>
              </a:rPr>
              <a:t>Comparative Analysis</a:t>
            </a:r>
          </a:p>
          <a:p>
            <a:pPr marL="0" marR="0" lvl="0" indent="0" algn="just" defTabSz="91440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Gill Sans" panose="020B0604020202020204" charset="0"/>
              </a:rPr>
              <a:t>Conclusion</a:t>
            </a:r>
          </a:p>
          <a:p>
            <a:pPr marL="0" marR="0" lvl="0" indent="0" algn="just" defTabSz="91440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Gill Sans" panose="020B0604020202020204" charset="0"/>
              </a:rPr>
              <a:t>References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4"/>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a:t>INTRODUCTION</a:t>
            </a:r>
            <a:endParaRPr/>
          </a:p>
        </p:txBody>
      </p:sp>
      <p:sp>
        <p:nvSpPr>
          <p:cNvPr id="126" name="Google Shape;126;p4"/>
          <p:cNvSpPr txBox="1">
            <a:spLocks noGrp="1"/>
          </p:cNvSpPr>
          <p:nvPr>
            <p:ph type="body" idx="1"/>
          </p:nvPr>
        </p:nvSpPr>
        <p:spPr>
          <a:xfrm>
            <a:off x="581192" y="1671002"/>
            <a:ext cx="8313426" cy="3226580"/>
          </a:xfrm>
          <a:prstGeom prst="rect">
            <a:avLst/>
          </a:prstGeom>
          <a:noFill/>
          <a:ln>
            <a:noFill/>
          </a:ln>
        </p:spPr>
        <p:txBody>
          <a:bodyPr spcFirstLastPara="1" wrap="square" lIns="91425" tIns="45700" rIns="91425" bIns="45700" anchor="ctr" anchorCtr="0">
            <a:normAutofit fontScale="92500" lnSpcReduction="20000"/>
          </a:bodyPr>
          <a:lstStyle/>
          <a:p>
            <a:pPr algn="just"/>
            <a:r>
              <a:rPr lang="en-US" sz="1900" b="1" dirty="0"/>
              <a:t>Context / Need</a:t>
            </a:r>
          </a:p>
          <a:p>
            <a:pPr marL="123444" indent="0" algn="just">
              <a:buNone/>
            </a:pPr>
            <a:r>
              <a:rPr lang="en-US" sz="1900" dirty="0"/>
              <a:t>Indoor environments continuously reflect human activity and emotional states through ambient sounds such as conversations, silence, and sudden noise. Existing sound-reactive lighting systems mainly focus on music beat or volume detection, limiting their usefulness beyond entertainment. There is a need for an intelligent, low-cost system that interprets environmental sound patterns to provide meaningful and intuitive visual feedback.</a:t>
            </a:r>
          </a:p>
          <a:p>
            <a:pPr algn="just"/>
            <a:r>
              <a:rPr lang="en-US" sz="1900" b="1" dirty="0"/>
              <a:t>Scope of the Project</a:t>
            </a:r>
          </a:p>
          <a:p>
            <a:pPr marL="123444" indent="0" algn="just">
              <a:buNone/>
            </a:pPr>
            <a:r>
              <a:rPr lang="en-US" sz="1900" dirty="0"/>
              <a:t>This project analyzes ambient sound characteristics such as voice tone, amplitude variations, silence, and noise peaks, and maps them to corresponding light moods using RGB LEDs. The system operates in real time using embedded hardware and is suitable for indoor environments. The scope can be extended to environment classification and data logging for smart spaces</a:t>
            </a:r>
            <a:r>
              <a:rPr lang="en-US" sz="1600"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9"/>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SzPts val="2800"/>
              <a:buNone/>
            </a:pPr>
            <a:r>
              <a:rPr lang="en-US"/>
              <a:t>Requirement Analysis &amp; Feasibility</a:t>
            </a:r>
            <a:endParaRPr/>
          </a:p>
        </p:txBody>
      </p:sp>
      <p:sp>
        <p:nvSpPr>
          <p:cNvPr id="132" name="Google Shape;132;p9"/>
          <p:cNvSpPr txBox="1">
            <a:spLocks noGrp="1"/>
          </p:cNvSpPr>
          <p:nvPr>
            <p:ph type="body" idx="1"/>
          </p:nvPr>
        </p:nvSpPr>
        <p:spPr>
          <a:xfrm>
            <a:off x="581192" y="1477038"/>
            <a:ext cx="7989900" cy="3666462"/>
          </a:xfrm>
          <a:prstGeom prst="rect">
            <a:avLst/>
          </a:prstGeom>
          <a:noFill/>
          <a:ln>
            <a:noFill/>
          </a:ln>
        </p:spPr>
        <p:txBody>
          <a:bodyPr spcFirstLastPara="1" wrap="square" lIns="91425" tIns="45700" rIns="91425" bIns="45700" anchor="ctr" anchorCtr="0">
            <a:normAutofit fontScale="92500" lnSpcReduction="10000"/>
          </a:bodyPr>
          <a:lstStyle/>
          <a:p>
            <a:pPr marL="123444" indent="0">
              <a:buNone/>
            </a:pPr>
            <a:r>
              <a:rPr lang="en-US" b="1" dirty="0"/>
              <a:t>Hardware Requirements</a:t>
            </a:r>
          </a:p>
          <a:p>
            <a:pPr marL="123444" indent="0">
              <a:buNone/>
            </a:pPr>
            <a:r>
              <a:rPr lang="en-US" dirty="0"/>
              <a:t>ESP32 WROOM32 Devkit1INMP441 MEMS Omnidirectional Microphone Module</a:t>
            </a:r>
          </a:p>
          <a:p>
            <a:pPr marL="123444" indent="0">
              <a:buNone/>
            </a:pPr>
            <a:r>
              <a:rPr lang="en-US" dirty="0"/>
              <a:t>WS28121B LED</a:t>
            </a:r>
          </a:p>
          <a:p>
            <a:pPr marL="123444" indent="0">
              <a:buNone/>
            </a:pPr>
            <a:r>
              <a:rPr lang="en-US" dirty="0"/>
              <a:t>Breadboard</a:t>
            </a:r>
          </a:p>
          <a:p>
            <a:pPr marL="123444" indent="0">
              <a:buNone/>
            </a:pPr>
            <a:r>
              <a:rPr lang="en-US" dirty="0"/>
              <a:t>470uf Capacitor </a:t>
            </a:r>
          </a:p>
          <a:p>
            <a:pPr marL="123444" indent="0">
              <a:buNone/>
            </a:pPr>
            <a:r>
              <a:rPr lang="en-US" dirty="0"/>
              <a:t>100nf capacitor</a:t>
            </a:r>
          </a:p>
          <a:p>
            <a:pPr marL="123444" indent="0">
              <a:buNone/>
            </a:pPr>
            <a:r>
              <a:rPr lang="en-US" dirty="0"/>
              <a:t> SN74HCT125N Buffer</a:t>
            </a:r>
          </a:p>
          <a:p>
            <a:pPr marL="123444" indent="0">
              <a:buNone/>
            </a:pPr>
            <a:r>
              <a:rPr lang="en-US" dirty="0"/>
              <a:t>68 Ohm resistor</a:t>
            </a:r>
          </a:p>
          <a:p>
            <a:pPr marL="123444" indent="0">
              <a:buNone/>
            </a:pPr>
            <a:r>
              <a:rPr lang="en-US" b="1" dirty="0"/>
              <a:t> Software Requirements</a:t>
            </a:r>
          </a:p>
          <a:p>
            <a:pPr marL="123444" indent="0">
              <a:buNone/>
            </a:pPr>
            <a:r>
              <a:rPr lang="en-US" dirty="0"/>
              <a:t>Arduino IDE / ESP-IDF</a:t>
            </a:r>
          </a:p>
          <a:p>
            <a:pPr marL="123444" indent="0">
              <a:buNone/>
            </a:pPr>
            <a:r>
              <a:rPr lang="en-US" dirty="0"/>
              <a:t>Signal processing algorithms</a:t>
            </a:r>
          </a:p>
          <a:p>
            <a:pPr marL="123444" indent="0">
              <a:buNone/>
            </a:pPr>
            <a:r>
              <a:rPr lang="en-US" dirty="0"/>
              <a:t>LED control libraries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5"/>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cap="none">
                <a:solidFill>
                  <a:schemeClr val="lt1"/>
                </a:solidFill>
                <a:latin typeface="Gill Sans"/>
                <a:ea typeface="Gill Sans"/>
                <a:cs typeface="Gill Sans"/>
                <a:sym typeface="Gill Sans"/>
              </a:rPr>
              <a:t>LITERATURE REVIEW</a:t>
            </a:r>
            <a:endParaRPr/>
          </a:p>
        </p:txBody>
      </p:sp>
      <p:sp>
        <p:nvSpPr>
          <p:cNvPr id="138" name="Google Shape;138;p5"/>
          <p:cNvSpPr txBox="1">
            <a:spLocks noGrp="1"/>
          </p:cNvSpPr>
          <p:nvPr>
            <p:ph type="body" idx="1"/>
          </p:nvPr>
        </p:nvSpPr>
        <p:spPr>
          <a:xfrm>
            <a:off x="581192" y="1156855"/>
            <a:ext cx="7989900" cy="4287981"/>
          </a:xfrm>
          <a:prstGeom prst="rect">
            <a:avLst/>
          </a:prstGeom>
          <a:noFill/>
          <a:ln>
            <a:noFill/>
          </a:ln>
        </p:spPr>
        <p:txBody>
          <a:bodyPr spcFirstLastPara="1" wrap="square" lIns="91425" tIns="45700" rIns="91425" bIns="45700" anchor="ctr" anchorCtr="0">
            <a:normAutofit/>
          </a:bodyPr>
          <a:lstStyle/>
          <a:p>
            <a:r>
              <a:rPr lang="en-US" sz="1200" b="1" dirty="0"/>
              <a:t>Existing Systems / Studies</a:t>
            </a:r>
          </a:p>
          <a:p>
            <a:pPr marL="123444" indent="0">
              <a:buNone/>
            </a:pPr>
            <a:r>
              <a:rPr lang="en-US" sz="1200" dirty="0"/>
              <a:t>Several studies and systems have explored sound-responsive lighting and emotion-aware environments. Traditional sound-reactive LED systems respond to changes in sound amplitude, while music beat detection systems synchronize lighting effects with musical rhythm using frequency analysis techniques. Some advanced studies focus on audio-based emotion detection using speech features and machine learning models to classify emotional states.</a:t>
            </a:r>
          </a:p>
          <a:p>
            <a:r>
              <a:rPr lang="en-US" sz="1200" b="1" dirty="0"/>
              <a:t>Limitations of Existing Systems</a:t>
            </a:r>
          </a:p>
          <a:p>
            <a:pPr marL="123444" indent="0">
              <a:buNone/>
            </a:pPr>
            <a:r>
              <a:rPr lang="en-US" sz="1200" dirty="0"/>
              <a:t>Most existing systems are limited to entertainment applications and depend heavily on music input. They fail to interpret emotional or contextual information from everyday environmental sounds. Machine learning-based emotion detection systems require high computational resources, large datasets, and expensive hardware, making them unsuitable for low-cost, real-time embedded applications.</a:t>
            </a:r>
          </a:p>
          <a:p>
            <a:r>
              <a:rPr lang="en-US" sz="1200" b="1" dirty="0"/>
              <a:t>Proposed System – Improvement and Differentiation</a:t>
            </a:r>
          </a:p>
          <a:p>
            <a:pPr marL="123444" indent="0">
              <a:buNone/>
            </a:pPr>
            <a:r>
              <a:rPr lang="en-US" sz="1200" dirty="0"/>
              <a:t>The proposed Emotion Lamp differs by focusing on environmental sound patterns rather than music beats or complex emotion classification. It analyzes voice tone characteristics, amplitude variations, silence, and sudden noise peaks to infer the emotional state of an environment. The system provides real-time visual feedback using low-cost hardware, making it affordable, scalable, and suitable for everyday indoor spaces.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6"/>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a:t>Comparative Table</a:t>
            </a:r>
            <a:endParaRPr/>
          </a:p>
        </p:txBody>
      </p:sp>
      <p:graphicFrame>
        <p:nvGraphicFramePr>
          <p:cNvPr id="144" name="Google Shape;144;p6"/>
          <p:cNvGraphicFramePr/>
          <p:nvPr>
            <p:extLst>
              <p:ext uri="{D42A27DB-BD31-4B8C-83A1-F6EECF244321}">
                <p14:modId xmlns:p14="http://schemas.microsoft.com/office/powerpoint/2010/main" val="1943731996"/>
              </p:ext>
            </p:extLst>
          </p:nvPr>
        </p:nvGraphicFramePr>
        <p:xfrm>
          <a:off x="679488" y="2051503"/>
          <a:ext cx="7785000" cy="2017230"/>
        </p:xfrm>
        <a:graphic>
          <a:graphicData uri="http://schemas.openxmlformats.org/drawingml/2006/table">
            <a:tbl>
              <a:tblPr>
                <a:noFill/>
                <a:tableStyleId>{75EFCBB5-E8D9-4151-BCF0-574305E1CD60}</a:tableStyleId>
              </a:tblPr>
              <a:tblGrid>
                <a:gridCol w="1659100">
                  <a:extLst>
                    <a:ext uri="{9D8B030D-6E8A-4147-A177-3AD203B41FA5}">
                      <a16:colId xmlns:a16="http://schemas.microsoft.com/office/drawing/2014/main" val="20000"/>
                    </a:ext>
                  </a:extLst>
                </a:gridCol>
                <a:gridCol w="1659100">
                  <a:extLst>
                    <a:ext uri="{9D8B030D-6E8A-4147-A177-3AD203B41FA5}">
                      <a16:colId xmlns:a16="http://schemas.microsoft.com/office/drawing/2014/main" val="20001"/>
                    </a:ext>
                  </a:extLst>
                </a:gridCol>
                <a:gridCol w="1483625">
                  <a:extLst>
                    <a:ext uri="{9D8B030D-6E8A-4147-A177-3AD203B41FA5}">
                      <a16:colId xmlns:a16="http://schemas.microsoft.com/office/drawing/2014/main" val="20002"/>
                    </a:ext>
                  </a:extLst>
                </a:gridCol>
                <a:gridCol w="2983175">
                  <a:extLst>
                    <a:ext uri="{9D8B030D-6E8A-4147-A177-3AD203B41FA5}">
                      <a16:colId xmlns:a16="http://schemas.microsoft.com/office/drawing/2014/main" val="20003"/>
                    </a:ext>
                  </a:extLst>
                </a:gridCol>
              </a:tblGrid>
              <a:tr h="521475">
                <a:tc>
                  <a:txBody>
                    <a:bodyPr/>
                    <a:lstStyle/>
                    <a:p>
                      <a:pPr marL="0" marR="0" lvl="0" indent="0" algn="ctr" rtl="0">
                        <a:lnSpc>
                          <a:spcPct val="115000"/>
                        </a:lnSpc>
                        <a:spcBef>
                          <a:spcPts val="0"/>
                        </a:spcBef>
                        <a:spcAft>
                          <a:spcPts val="0"/>
                        </a:spcAft>
                        <a:buClr>
                          <a:srgbClr val="000000"/>
                        </a:buClr>
                        <a:buSzPts val="618"/>
                        <a:buFont typeface="Arial"/>
                        <a:buNone/>
                      </a:pPr>
                      <a:r>
                        <a:rPr lang="en-US" sz="1400" b="1" u="none" strike="noStrike" cap="none">
                          <a:latin typeface="Gill Sans" panose="020B0604020202020204" charset="0"/>
                        </a:rPr>
                        <a:t>Paper / System</a:t>
                      </a:r>
                      <a:endParaRPr sz="1400" b="1" u="none" strike="noStrike" cap="none">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618"/>
                        <a:buFont typeface="Arial"/>
                        <a:buNone/>
                      </a:pPr>
                      <a:r>
                        <a:rPr lang="en-US" sz="1400" b="1" u="none" strike="noStrike" cap="none">
                          <a:latin typeface="Gill Sans" panose="020B0604020202020204" charset="0"/>
                        </a:rPr>
                        <a:t>Year</a:t>
                      </a:r>
                      <a:endParaRPr sz="1400" b="1" u="none" strike="noStrike" cap="none">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618"/>
                        <a:buFont typeface="Arial"/>
                        <a:buNone/>
                      </a:pPr>
                      <a:r>
                        <a:rPr lang="en-US" sz="1400" b="1" u="none" strike="noStrike" cap="none">
                          <a:latin typeface="Gill Sans" panose="020B0604020202020204" charset="0"/>
                        </a:rPr>
                        <a:t>Method Used</a:t>
                      </a:r>
                      <a:endParaRPr sz="1400" b="1" u="none" strike="noStrike" cap="none">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618"/>
                        <a:buFont typeface="Arial"/>
                        <a:buNone/>
                      </a:pPr>
                      <a:r>
                        <a:rPr lang="en-US" sz="1400" b="1" u="none" strike="noStrike" cap="none">
                          <a:latin typeface="Gill Sans" panose="020B0604020202020204" charset="0"/>
                        </a:rPr>
                        <a:t>Limitation / Gap Identified</a:t>
                      </a:r>
                      <a:endParaRPr sz="1400" b="1" u="none" strike="noStrike" cap="none">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79125">
                <a:tc>
                  <a:txBody>
                    <a:bodyPr/>
                    <a:lstStyle/>
                    <a:p>
                      <a:pPr marL="0" marR="0" lvl="0" indent="0" algn="l" rtl="0">
                        <a:lnSpc>
                          <a:spcPct val="100000"/>
                        </a:lnSpc>
                        <a:spcBef>
                          <a:spcPts val="0"/>
                        </a:spcBef>
                        <a:spcAft>
                          <a:spcPts val="0"/>
                        </a:spcAft>
                        <a:buClr>
                          <a:srgbClr val="000000"/>
                        </a:buClr>
                        <a:buSzPts val="787"/>
                        <a:buFont typeface="Arial"/>
                        <a:buNone/>
                      </a:pPr>
                      <a:r>
                        <a:rPr lang="en-US" sz="1400" dirty="0">
                          <a:latin typeface="Gill Sans" panose="020B0604020202020204" charset="0"/>
                        </a:rPr>
                        <a:t>Audio-Based Emotion Detection</a:t>
                      </a:r>
                      <a:endParaRPr sz="1400" u="none" strike="noStrike" cap="none" dirty="0">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787"/>
                        <a:buFont typeface="Arial"/>
                        <a:buNone/>
                      </a:pPr>
                      <a:r>
                        <a:rPr lang="en-US" sz="1400" u="none" strike="noStrike" cap="none" dirty="0">
                          <a:latin typeface="Gill Sans" panose="020B0604020202020204" charset="0"/>
                        </a:rPr>
                        <a:t> </a:t>
                      </a:r>
                      <a:r>
                        <a:rPr lang="en-US" sz="1400" dirty="0">
                          <a:latin typeface="Gill Sans" panose="020B0604020202020204" charset="0"/>
                        </a:rPr>
                        <a:t>2021</a:t>
                      </a:r>
                      <a:endParaRPr sz="1400" u="none" strike="noStrike" cap="none" dirty="0">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787"/>
                        <a:buFont typeface="Arial"/>
                        <a:buNone/>
                      </a:pPr>
                      <a:r>
                        <a:rPr lang="en-US" sz="1400" dirty="0">
                          <a:latin typeface="Gill Sans" panose="020B0604020202020204" charset="0"/>
                        </a:rPr>
                        <a:t>Machine learning on speech features</a:t>
                      </a:r>
                      <a:endParaRPr sz="1400" u="none" strike="noStrike" cap="none" dirty="0">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787"/>
                        <a:buFont typeface="Arial"/>
                        <a:buNone/>
                      </a:pPr>
                      <a:r>
                        <a:rPr lang="en-US" sz="1400" dirty="0">
                          <a:latin typeface="Gill Sans" panose="020B0604020202020204" charset="0"/>
                        </a:rPr>
                        <a:t>High computational cost, expensive hardware</a:t>
                      </a:r>
                      <a:endParaRPr sz="1400" u="none" strike="noStrike" cap="none" dirty="0">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752825">
                <a:tc>
                  <a:txBody>
                    <a:bodyPr/>
                    <a:lstStyle/>
                    <a:p>
                      <a:pPr marL="0" marR="0" lvl="0" indent="0" algn="l" rtl="0">
                        <a:lnSpc>
                          <a:spcPct val="100000"/>
                        </a:lnSpc>
                        <a:spcBef>
                          <a:spcPts val="0"/>
                        </a:spcBef>
                        <a:spcAft>
                          <a:spcPts val="0"/>
                        </a:spcAft>
                        <a:buClr>
                          <a:srgbClr val="000000"/>
                        </a:buClr>
                        <a:buSzPts val="787"/>
                        <a:buFont typeface="Arial"/>
                        <a:buNone/>
                      </a:pPr>
                      <a:r>
                        <a:rPr lang="en-US" sz="1400" dirty="0">
                          <a:latin typeface="Gill Sans" panose="020B0604020202020204" charset="0"/>
                        </a:rPr>
                        <a:t>Proposed Emotion Lamp</a:t>
                      </a:r>
                      <a:endParaRPr sz="1400" u="none" strike="noStrike" cap="none" dirty="0">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787"/>
                        <a:buFont typeface="Arial"/>
                        <a:buNone/>
                      </a:pPr>
                      <a:r>
                        <a:rPr lang="en-US" sz="1400" dirty="0">
                          <a:latin typeface="Gill Sans" panose="020B0604020202020204" charset="0"/>
                        </a:rPr>
                        <a:t>2026</a:t>
                      </a:r>
                      <a:endParaRPr sz="1400" u="none" strike="noStrike" cap="none" dirty="0">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787"/>
                        <a:buFont typeface="Arial"/>
                        <a:buNone/>
                      </a:pPr>
                      <a:r>
                        <a:rPr lang="fr-FR" sz="1400" dirty="0">
                          <a:latin typeface="Gill Sans" panose="020B0604020202020204" charset="0"/>
                        </a:rPr>
                        <a:t>Ambient Voice Tone + amplitude pattern analysis</a:t>
                      </a:r>
                      <a:endParaRPr sz="1400" u="none" strike="noStrike" cap="none" dirty="0">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787"/>
                        <a:buFont typeface="Arial"/>
                        <a:buNone/>
                      </a:pPr>
                      <a:r>
                        <a:rPr lang="en-US" sz="1400" dirty="0">
                          <a:latin typeface="Gill Sans" panose="020B0604020202020204" charset="0"/>
                        </a:rPr>
                        <a:t>Focused on basic affective states (extendable)</a:t>
                      </a:r>
                      <a:endParaRPr sz="1400" u="none" strike="noStrike" cap="none" dirty="0">
                        <a:latin typeface="Gill Sans" panose="020B0604020202020204" charset="0"/>
                      </a:endParaRPr>
                    </a:p>
                  </a:txBody>
                  <a:tcPr marL="91425" marR="91425" marT="51425" marB="5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8"/>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306000" lvl="0" indent="-306000" algn="l" rtl="0">
              <a:lnSpc>
                <a:spcPct val="100000"/>
              </a:lnSpc>
              <a:spcBef>
                <a:spcPts val="960"/>
              </a:spcBef>
              <a:spcAft>
                <a:spcPts val="0"/>
              </a:spcAft>
              <a:buSzPts val="1800"/>
              <a:buNone/>
            </a:pPr>
            <a:r>
              <a:rPr lang="en-US"/>
              <a:t>Objectives of the Proposed Work</a:t>
            </a:r>
            <a:endParaRPr/>
          </a:p>
        </p:txBody>
      </p:sp>
      <p:sp>
        <p:nvSpPr>
          <p:cNvPr id="150" name="Google Shape;150;p8"/>
          <p:cNvSpPr txBox="1">
            <a:spLocks noGrp="1"/>
          </p:cNvSpPr>
          <p:nvPr>
            <p:ph type="body" idx="1"/>
          </p:nvPr>
        </p:nvSpPr>
        <p:spPr>
          <a:xfrm>
            <a:off x="581192" y="1671002"/>
            <a:ext cx="7989900" cy="2723100"/>
          </a:xfrm>
          <a:prstGeom prst="rect">
            <a:avLst/>
          </a:prstGeom>
          <a:noFill/>
          <a:ln>
            <a:noFill/>
          </a:ln>
        </p:spPr>
        <p:txBody>
          <a:bodyPr spcFirstLastPara="1" wrap="square" lIns="91425" tIns="45700" rIns="91425" bIns="45700" anchor="ctr" anchorCtr="0">
            <a:normAutofit/>
          </a:bodyPr>
          <a:lstStyle/>
          <a:p>
            <a:pPr marL="306000" lvl="0" indent="-306000" algn="l" rtl="0">
              <a:lnSpc>
                <a:spcPct val="100000"/>
              </a:lnSpc>
              <a:spcBef>
                <a:spcPts val="0"/>
              </a:spcBef>
              <a:spcAft>
                <a:spcPts val="0"/>
              </a:spcAft>
              <a:buSzPts val="1656"/>
              <a:buChar char="⬛"/>
            </a:pPr>
            <a:r>
              <a:rPr lang="en-US" dirty="0"/>
              <a:t>Project Objectives, Goals of the Proposed System, Intended Outcomes</a:t>
            </a:r>
          </a:p>
          <a:p>
            <a:pPr marL="123444" indent="0">
              <a:buNone/>
            </a:pPr>
            <a:r>
              <a:rPr lang="en-US" dirty="0"/>
              <a:t>To analyze environmental sound patterns instead of music beats</a:t>
            </a:r>
          </a:p>
          <a:p>
            <a:pPr marL="123444" indent="0">
              <a:buNone/>
            </a:pPr>
            <a:r>
              <a:rPr lang="en-US" dirty="0"/>
              <a:t>To map sound characteristics to intuitive light moods</a:t>
            </a:r>
          </a:p>
          <a:p>
            <a:pPr marL="123444" indent="0">
              <a:buNone/>
            </a:pPr>
            <a:r>
              <a:rPr lang="en-US" dirty="0"/>
              <a:t>To design a low-cost and real-time affective sensing system</a:t>
            </a:r>
          </a:p>
          <a:p>
            <a:pPr marL="123444" indent="0">
              <a:buNone/>
            </a:pPr>
            <a:r>
              <a:rPr lang="en-US" dirty="0"/>
              <a:t>To enhance ambient awareness through visual feedback</a:t>
            </a:r>
          </a:p>
          <a:p>
            <a:pPr marL="123444" indent="0">
              <a:buNone/>
            </a:pPr>
            <a:r>
              <a:rPr lang="en-US" dirty="0"/>
              <a:t>To optionally classify environments such as office, cafeteria, or study room</a:t>
            </a:r>
          </a:p>
          <a:p>
            <a:pPr marL="306000" lvl="0" indent="-306000" algn="l" rtl="0">
              <a:lnSpc>
                <a:spcPct val="100000"/>
              </a:lnSpc>
              <a:spcBef>
                <a:spcPts val="0"/>
              </a:spcBef>
              <a:spcAft>
                <a:spcPts val="0"/>
              </a:spcAft>
              <a:buSzPts val="1656"/>
              <a:buChar char="⬛"/>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0"/>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SzPts val="2800"/>
              <a:buNone/>
            </a:pPr>
            <a:r>
              <a:rPr lang="en-US"/>
              <a:t>Methodology of the Proposed Work</a:t>
            </a:r>
            <a:endParaRPr/>
          </a:p>
        </p:txBody>
      </p:sp>
      <p:sp>
        <p:nvSpPr>
          <p:cNvPr id="156" name="Google Shape;156;p10"/>
          <p:cNvSpPr txBox="1">
            <a:spLocks noGrp="1"/>
          </p:cNvSpPr>
          <p:nvPr>
            <p:ph type="body" idx="1"/>
          </p:nvPr>
        </p:nvSpPr>
        <p:spPr>
          <a:xfrm>
            <a:off x="581192" y="1413165"/>
            <a:ext cx="7989900" cy="3858490"/>
          </a:xfrm>
          <a:prstGeom prst="rect">
            <a:avLst/>
          </a:prstGeom>
          <a:noFill/>
          <a:ln>
            <a:noFill/>
          </a:ln>
        </p:spPr>
        <p:txBody>
          <a:bodyPr spcFirstLastPara="1" wrap="square" lIns="91425" tIns="45700" rIns="91425" bIns="45700" anchor="ctr" anchorCtr="0">
            <a:normAutofit fontScale="47500" lnSpcReduction="20000"/>
          </a:bodyPr>
          <a:lstStyle/>
          <a:p>
            <a:r>
              <a:rPr lang="en-US" sz="3800" b="1" dirty="0"/>
              <a:t>Approach &amp; Implementation</a:t>
            </a:r>
          </a:p>
          <a:p>
            <a:pPr marL="123444" indent="0">
              <a:buNone/>
            </a:pPr>
            <a:r>
              <a:rPr lang="en-US" sz="3800" dirty="0"/>
              <a:t>The system adopts a real-time embedded approach where ambient sound is captured using a MEMS microphone and processed by an ESP32 microcontroller. Key sound features such as amplitude variation, voice tone tendency, silence duration, and sudden noise peaks are analyzed using threshold-based logic. Based on the detected pattern, the environment is classified into affective states, which are visualized using RGB LED light moods.</a:t>
            </a:r>
          </a:p>
          <a:p>
            <a:r>
              <a:rPr lang="en-US" sz="3800" b="1" dirty="0"/>
              <a:t>Project Workflow</a:t>
            </a:r>
          </a:p>
          <a:p>
            <a:pPr marL="123444" indent="0">
              <a:buNone/>
            </a:pPr>
            <a:r>
              <a:rPr lang="en-US" sz="3800" dirty="0"/>
              <a:t>Sound Capture → Signal Processing → Feature Analysis → Environment Classification → Light Mapping → RGB LED Output</a:t>
            </a:r>
          </a:p>
          <a:p>
            <a:r>
              <a:rPr lang="en-US" sz="3800" b="1" dirty="0"/>
              <a:t>System Architecture / Design Approach</a:t>
            </a:r>
          </a:p>
          <a:p>
            <a:pPr marL="123444" indent="0">
              <a:buNone/>
            </a:pPr>
            <a:r>
              <a:rPr lang="en-US" sz="3800" dirty="0"/>
              <a:t>The architecture consists of an </a:t>
            </a:r>
            <a:r>
              <a:rPr lang="en-US" sz="3800" b="1" dirty="0"/>
              <a:t>Input Module</a:t>
            </a:r>
            <a:r>
              <a:rPr lang="en-US" sz="3800" dirty="0"/>
              <a:t> (MEMS microphone), </a:t>
            </a:r>
            <a:r>
              <a:rPr lang="en-US" sz="3800" b="1" dirty="0"/>
              <a:t>Processing Module</a:t>
            </a:r>
            <a:r>
              <a:rPr lang="en-US" sz="3800" dirty="0"/>
              <a:t> (ESP32 for analysis and decision-making), and </a:t>
            </a:r>
            <a:r>
              <a:rPr lang="en-US" sz="3800" b="1" dirty="0"/>
              <a:t>Output Module</a:t>
            </a:r>
            <a:r>
              <a:rPr lang="en-US" sz="3800" dirty="0"/>
              <a:t> (WS2812 RGB LEDs for visualization). All modules operate in real time to provide continuous ambient feedback.</a:t>
            </a:r>
          </a:p>
          <a:p>
            <a:pPr marL="0" lvl="0" indent="0" algn="l" rtl="0">
              <a:lnSpc>
                <a:spcPct val="100000"/>
              </a:lnSpc>
              <a:spcBef>
                <a:spcPts val="0"/>
              </a:spcBef>
              <a:spcAft>
                <a:spcPts val="0"/>
              </a:spcAft>
              <a:buSzPts val="1656"/>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3"/>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a:t>CONCLUSION</a:t>
            </a:r>
            <a:endParaRPr/>
          </a:p>
        </p:txBody>
      </p:sp>
      <p:sp>
        <p:nvSpPr>
          <p:cNvPr id="162" name="Google Shape;162;p13"/>
          <p:cNvSpPr txBox="1">
            <a:spLocks noGrp="1"/>
          </p:cNvSpPr>
          <p:nvPr>
            <p:ph type="body" idx="1"/>
          </p:nvPr>
        </p:nvSpPr>
        <p:spPr>
          <a:xfrm>
            <a:off x="581192" y="1671002"/>
            <a:ext cx="7989900" cy="2723100"/>
          </a:xfrm>
          <a:prstGeom prst="rect">
            <a:avLst/>
          </a:prstGeom>
          <a:noFill/>
          <a:ln>
            <a:noFill/>
          </a:ln>
        </p:spPr>
        <p:txBody>
          <a:bodyPr spcFirstLastPara="1" wrap="square" lIns="91425" tIns="45700" rIns="91425" bIns="45700" anchor="ctr" anchorCtr="0">
            <a:normAutofit/>
          </a:bodyPr>
          <a:lstStyle/>
          <a:p>
            <a:pPr marL="306000" lvl="0" indent="-200844" algn="just">
              <a:spcBef>
                <a:spcPts val="0"/>
              </a:spcBef>
              <a:buNone/>
            </a:pPr>
            <a:r>
              <a:rPr lang="en-US" dirty="0"/>
              <a:t>The Emotion Lamp successfully demonstrates how environmental sound patterns can be transformed into meaningful visual representations. By focusing on affective cues rather than musical synchronization, the system offers a novel approach to ambient interaction. Its low cost, simplicity, and strong visual appeal make it suitable for academic projects, smart environments, and interactive installations. The project bridges the gap between technology and human perception, making emotions visible through light.</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4"/>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cap="none">
                <a:solidFill>
                  <a:schemeClr val="lt1"/>
                </a:solidFill>
                <a:latin typeface="Gill Sans"/>
                <a:ea typeface="Gill Sans"/>
                <a:cs typeface="Gill Sans"/>
                <a:sym typeface="Gill Sans"/>
              </a:rPr>
              <a:t>REFERENCES</a:t>
            </a:r>
            <a:endParaRPr/>
          </a:p>
        </p:txBody>
      </p:sp>
      <p:sp>
        <p:nvSpPr>
          <p:cNvPr id="9" name="Text Placeholder 8">
            <a:extLst>
              <a:ext uri="{FF2B5EF4-FFF2-40B4-BE49-F238E27FC236}">
                <a16:creationId xmlns:a16="http://schemas.microsoft.com/office/drawing/2014/main" id="{0DACDA42-51BC-10BA-831F-AD14A21149FB}"/>
              </a:ext>
            </a:extLst>
          </p:cNvPr>
          <p:cNvSpPr>
            <a:spLocks noGrp="1" noChangeArrowheads="1"/>
          </p:cNvSpPr>
          <p:nvPr>
            <p:ph type="body" idx="1"/>
          </p:nvPr>
        </p:nvSpPr>
        <p:spPr bwMode="auto">
          <a:xfrm>
            <a:off x="542422" y="1616397"/>
            <a:ext cx="8059156"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Gill Sans" panose="020B0604020202020204" charset="0"/>
              </a:rPr>
              <a:t>A. V. Oppenheim and R. W. Schafer, </a:t>
            </a:r>
            <a:r>
              <a:rPr kumimoji="0" lang="en-US" altLang="en-US" sz="1500" b="0" i="1" u="none" strike="noStrike" cap="none" normalizeH="0" baseline="0" dirty="0">
                <a:ln>
                  <a:noFill/>
                </a:ln>
                <a:solidFill>
                  <a:schemeClr val="tx1"/>
                </a:solidFill>
                <a:effectLst/>
                <a:latin typeface="Gill Sans" panose="020B0604020202020204" charset="0"/>
              </a:rPr>
              <a:t>Discrete-Time Signal Processing</a:t>
            </a:r>
            <a:r>
              <a:rPr kumimoji="0" lang="en-US" altLang="en-US" sz="1500" b="0" i="0" u="none" strike="noStrike" cap="none" normalizeH="0" baseline="0" dirty="0">
                <a:ln>
                  <a:noFill/>
                </a:ln>
                <a:solidFill>
                  <a:schemeClr val="tx1"/>
                </a:solidFill>
                <a:effectLst/>
                <a:latin typeface="Gill Sans" panose="020B0604020202020204" charset="0"/>
              </a:rPr>
              <a:t>, 3rd ed. Upper Saddle River, NJ, USA: Pearson Education, 2010.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Gill Sans" panose="020B0604020202020204" charset="0"/>
              </a:rPr>
              <a:t>L. R. Rabiner and R. W. Schafer, </a:t>
            </a:r>
            <a:r>
              <a:rPr kumimoji="0" lang="en-US" altLang="en-US" sz="1500" b="0" i="1" u="none" strike="noStrike" cap="none" normalizeH="0" baseline="0" dirty="0">
                <a:ln>
                  <a:noFill/>
                </a:ln>
                <a:solidFill>
                  <a:schemeClr val="tx1"/>
                </a:solidFill>
                <a:effectLst/>
                <a:latin typeface="Gill Sans" panose="020B0604020202020204" charset="0"/>
              </a:rPr>
              <a:t>Theory and Applications of Digital Speech Processing</a:t>
            </a:r>
            <a:r>
              <a:rPr kumimoji="0" lang="en-US" altLang="en-US" sz="1500" b="0" i="0" u="none" strike="noStrike" cap="none" normalizeH="0" baseline="0" dirty="0">
                <a:ln>
                  <a:noFill/>
                </a:ln>
                <a:solidFill>
                  <a:schemeClr val="tx1"/>
                </a:solidFill>
                <a:effectLst/>
                <a:latin typeface="Gill Sans" panose="020B0604020202020204" charset="0"/>
              </a:rPr>
              <a:t>. Upper Saddle River, NJ, USA: Pearson, 2011.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Gill Sans" panose="020B0604020202020204" charset="0"/>
              </a:rPr>
              <a:t>R. W. Picard, </a:t>
            </a:r>
            <a:r>
              <a:rPr kumimoji="0" lang="en-US" altLang="en-US" sz="1500" b="0" i="1" u="none" strike="noStrike" cap="none" normalizeH="0" baseline="0" dirty="0">
                <a:ln>
                  <a:noFill/>
                </a:ln>
                <a:solidFill>
                  <a:schemeClr val="tx1"/>
                </a:solidFill>
                <a:effectLst/>
                <a:latin typeface="Gill Sans" panose="020B0604020202020204" charset="0"/>
              </a:rPr>
              <a:t>Affective Computing</a:t>
            </a:r>
            <a:r>
              <a:rPr kumimoji="0" lang="en-US" altLang="en-US" sz="1500" b="0" i="0" u="none" strike="noStrike" cap="none" normalizeH="0" baseline="0" dirty="0">
                <a:ln>
                  <a:noFill/>
                </a:ln>
                <a:solidFill>
                  <a:schemeClr val="tx1"/>
                </a:solidFill>
                <a:effectLst/>
                <a:latin typeface="Gill Sans" panose="020B0604020202020204" charset="0"/>
              </a:rPr>
              <a:t>. Cambridge, MA, USA: MIT Press, 1997.</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Gill Sans" panose="020B0604020202020204" charset="0"/>
              </a:rPr>
              <a:t>S. Scherer, G. </a:t>
            </a:r>
            <a:r>
              <a:rPr kumimoji="0" lang="en-US" altLang="en-US" sz="1500" b="0" i="0" u="none" strike="noStrike" cap="none" normalizeH="0" baseline="0" dirty="0" err="1">
                <a:ln>
                  <a:noFill/>
                </a:ln>
                <a:solidFill>
                  <a:schemeClr val="tx1"/>
                </a:solidFill>
                <a:effectLst/>
                <a:latin typeface="Gill Sans" panose="020B0604020202020204" charset="0"/>
              </a:rPr>
              <a:t>Stratou</a:t>
            </a:r>
            <a:r>
              <a:rPr kumimoji="0" lang="en-US" altLang="en-US" sz="1500" b="0" i="0" u="none" strike="noStrike" cap="none" normalizeH="0" baseline="0" dirty="0">
                <a:ln>
                  <a:noFill/>
                </a:ln>
                <a:solidFill>
                  <a:schemeClr val="tx1"/>
                </a:solidFill>
                <a:effectLst/>
                <a:latin typeface="Gill Sans" panose="020B0604020202020204" charset="0"/>
              </a:rPr>
              <a:t>, J. Gratch, and L.-P. Morency, “Automatic behavior descriptors for psychological disorder analysis,” </a:t>
            </a:r>
            <a:r>
              <a:rPr kumimoji="0" lang="en-US" altLang="en-US" sz="1500" b="0" i="1" u="none" strike="noStrike" cap="none" normalizeH="0" baseline="0" dirty="0">
                <a:ln>
                  <a:noFill/>
                </a:ln>
                <a:solidFill>
                  <a:schemeClr val="tx1"/>
                </a:solidFill>
                <a:effectLst/>
                <a:latin typeface="Gill Sans" panose="020B0604020202020204" charset="0"/>
              </a:rPr>
              <a:t>IEEE Transactions on Affective Computing</a:t>
            </a:r>
            <a:r>
              <a:rPr kumimoji="0" lang="en-US" altLang="en-US" sz="1500" b="0" i="0" u="none" strike="noStrike" cap="none" normalizeH="0" baseline="0" dirty="0">
                <a:ln>
                  <a:noFill/>
                </a:ln>
                <a:solidFill>
                  <a:schemeClr val="tx1"/>
                </a:solidFill>
                <a:effectLst/>
                <a:latin typeface="Gill Sans" panose="020B0604020202020204" charset="0"/>
              </a:rPr>
              <a:t>, vol. 4, no. 4, pp. 337–351, Oct.–Dec. 2013.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Gill Sans" panose="020B0604020202020204" charset="0"/>
              </a:rPr>
              <a:t>B. Schuller, S. Steidl, and A. Batliner, “The INTERSPEECH 2009 emotion challenge,” </a:t>
            </a:r>
            <a:r>
              <a:rPr kumimoji="0" lang="en-US" altLang="en-US" sz="1500" b="0" i="1" u="none" strike="noStrike" cap="none" normalizeH="0" baseline="0" dirty="0">
                <a:ln>
                  <a:noFill/>
                </a:ln>
                <a:solidFill>
                  <a:schemeClr val="tx1"/>
                </a:solidFill>
                <a:effectLst/>
                <a:latin typeface="Gill Sans" panose="020B0604020202020204" charset="0"/>
              </a:rPr>
              <a:t>Proc. INTERSPEECH</a:t>
            </a:r>
            <a:r>
              <a:rPr kumimoji="0" lang="en-US" altLang="en-US" sz="1500" b="0" i="0" u="none" strike="noStrike" cap="none" normalizeH="0" baseline="0" dirty="0">
                <a:ln>
                  <a:noFill/>
                </a:ln>
                <a:solidFill>
                  <a:schemeClr val="tx1"/>
                </a:solidFill>
                <a:effectLst/>
                <a:latin typeface="Gill Sans" panose="020B0604020202020204" charset="0"/>
              </a:rPr>
              <a:t>, Brighton, U.K., pp. 312–315, 2009.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Gill Sans" panose="020B0604020202020204" charset="0"/>
              </a:rPr>
              <a:t>Y. Kim and E. André, “Emotion recognition based on physiological changes in music listening,” </a:t>
            </a:r>
            <a:r>
              <a:rPr kumimoji="0" lang="en-US" altLang="en-US" sz="1500" b="0" i="1" u="none" strike="noStrike" cap="none" normalizeH="0" baseline="0" dirty="0">
                <a:ln>
                  <a:noFill/>
                </a:ln>
                <a:solidFill>
                  <a:schemeClr val="tx1"/>
                </a:solidFill>
                <a:effectLst/>
                <a:latin typeface="Gill Sans" panose="020B0604020202020204" charset="0"/>
              </a:rPr>
              <a:t>IEEE Transactions on Pattern Analysis and Machine Intelligence</a:t>
            </a:r>
            <a:r>
              <a:rPr kumimoji="0" lang="en-US" altLang="en-US" sz="1500" b="0" i="0" u="none" strike="noStrike" cap="none" normalizeH="0" baseline="0" dirty="0">
                <a:ln>
                  <a:noFill/>
                </a:ln>
                <a:solidFill>
                  <a:schemeClr val="tx1"/>
                </a:solidFill>
                <a:effectLst/>
                <a:latin typeface="Gill Sans" panose="020B0604020202020204" charset="0"/>
              </a:rPr>
              <a:t>, vol. 30, no. 12, pp. 2067–2083, Dec. 2008.</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Gill Sans" panose="020B0604020202020204" charset="0"/>
              </a:rPr>
              <a:t>J. Deng, Z. Zhang, E. Marchi, and B. Schuller, “Sparse autoencoder-based feature transfer learning for speech emotion recognition,” </a:t>
            </a:r>
            <a:r>
              <a:rPr kumimoji="0" lang="en-US" altLang="en-US" sz="1500" b="0" i="1" u="none" strike="noStrike" cap="none" normalizeH="0" baseline="0" dirty="0">
                <a:ln>
                  <a:noFill/>
                </a:ln>
                <a:solidFill>
                  <a:schemeClr val="tx1"/>
                </a:solidFill>
                <a:effectLst/>
                <a:latin typeface="Gill Sans" panose="020B0604020202020204" charset="0"/>
              </a:rPr>
              <a:t>Proc. IEEE ICASSP</a:t>
            </a:r>
            <a:r>
              <a:rPr kumimoji="0" lang="en-US" altLang="en-US" sz="1500" b="0" i="0" u="none" strike="noStrike" cap="none" normalizeH="0" baseline="0" dirty="0">
                <a:ln>
                  <a:noFill/>
                </a:ln>
                <a:solidFill>
                  <a:schemeClr val="tx1"/>
                </a:solidFill>
                <a:effectLst/>
                <a:latin typeface="Gill Sans" panose="020B0604020202020204" charset="0"/>
              </a:rPr>
              <a:t>, pp. 4808–4812, 2014.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5"/>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a:t>ACKNOWLEDGEMENT</a:t>
            </a:r>
            <a:endParaRPr/>
          </a:p>
        </p:txBody>
      </p:sp>
      <p:sp>
        <p:nvSpPr>
          <p:cNvPr id="174" name="Google Shape;174;p15"/>
          <p:cNvSpPr txBox="1">
            <a:spLocks noGrp="1"/>
          </p:cNvSpPr>
          <p:nvPr>
            <p:ph type="body" idx="1"/>
          </p:nvPr>
        </p:nvSpPr>
        <p:spPr>
          <a:xfrm>
            <a:off x="581192" y="1671002"/>
            <a:ext cx="7989900" cy="2723100"/>
          </a:xfrm>
          <a:prstGeom prst="rect">
            <a:avLst/>
          </a:prstGeom>
          <a:noFill/>
          <a:ln>
            <a:noFill/>
          </a:ln>
        </p:spPr>
        <p:txBody>
          <a:bodyPr spcFirstLastPara="1" wrap="square" lIns="91425" tIns="45700" rIns="91425" bIns="45700" anchor="ctr" anchorCtr="0">
            <a:normAutofit/>
          </a:bodyPr>
          <a:lstStyle/>
          <a:p>
            <a:pPr marL="306000" indent="-200844" algn="just">
              <a:spcBef>
                <a:spcPts val="0"/>
              </a:spcBef>
              <a:buNone/>
            </a:pPr>
            <a:r>
              <a:rPr lang="en-US" dirty="0">
                <a:latin typeface="Gill Sans" panose="020B0604020202020204" charset="0"/>
              </a:rPr>
              <a:t>   I am profoundly grateful to </a:t>
            </a:r>
            <a:r>
              <a:rPr lang="en-US" b="1" dirty="0">
                <a:latin typeface="Gill Sans" panose="020B0604020202020204" charset="0"/>
              </a:rPr>
              <a:t>Prof. </a:t>
            </a:r>
            <a:r>
              <a:rPr lang="en-US" b="1" dirty="0" err="1">
                <a:latin typeface="Gill Sans" panose="020B0604020202020204" charset="0"/>
              </a:rPr>
              <a:t>Shiburaj</a:t>
            </a:r>
            <a:r>
              <a:rPr lang="en-US" b="1" dirty="0">
                <a:latin typeface="Gill Sans" panose="020B0604020202020204" charset="0"/>
              </a:rPr>
              <a:t> Pappu </a:t>
            </a:r>
            <a:r>
              <a:rPr lang="en-US" dirty="0">
                <a:latin typeface="Gill Sans" panose="020B0604020202020204" charset="0"/>
              </a:rPr>
              <a:t>for his expert guidance and continuous encouragement. I would like to express deepest appreciation towards </a:t>
            </a:r>
            <a:r>
              <a:rPr lang="en-US" b="1" dirty="0">
                <a:latin typeface="Gill Sans" panose="020B0604020202020204" charset="0"/>
              </a:rPr>
              <a:t>Dr. Varsha Shah</a:t>
            </a:r>
            <a:r>
              <a:rPr lang="en-US" dirty="0">
                <a:latin typeface="Gill Sans" panose="020B0604020202020204" charset="0"/>
              </a:rPr>
              <a:t>, Principal RCOE, Mumbai and </a:t>
            </a:r>
            <a:r>
              <a:rPr lang="en-US" b="1" dirty="0">
                <a:latin typeface="Gill Sans" panose="020B0604020202020204" charset="0"/>
              </a:rPr>
              <a:t>Prof. Mohd. </a:t>
            </a:r>
            <a:r>
              <a:rPr lang="en-US" b="1" dirty="0" err="1">
                <a:latin typeface="Gill Sans" panose="020B0604020202020204" charset="0"/>
              </a:rPr>
              <a:t>Juned</a:t>
            </a:r>
            <a:r>
              <a:rPr lang="en-US" dirty="0" err="1">
                <a:latin typeface="Gill Sans" panose="020B0604020202020204" charset="0"/>
              </a:rPr>
              <a:t>,HOD</a:t>
            </a:r>
            <a:r>
              <a:rPr lang="en-US" dirty="0">
                <a:latin typeface="Gill Sans" panose="020B0604020202020204" charset="0"/>
              </a:rPr>
              <a:t> Department of Computer Engineering RCOE for their invaluable guidance. Finally, I must express my sincere heartfelt gratitude to all the staff members of the Computer Engineering Department.</a:t>
            </a:r>
          </a:p>
          <a:p>
            <a:pPr marL="306000" lvl="0" indent="-200844" algn="l" rtl="0">
              <a:lnSpc>
                <a:spcPct val="100000"/>
              </a:lnSpc>
              <a:spcBef>
                <a:spcPts val="0"/>
              </a:spcBef>
              <a:spcAft>
                <a:spcPts val="0"/>
              </a:spcAft>
              <a:buSzPts val="1656"/>
              <a:buNone/>
            </a:pP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6"/>
          <p:cNvSpPr txBox="1">
            <a:spLocks noGrp="1"/>
          </p:cNvSpPr>
          <p:nvPr>
            <p:ph type="title"/>
          </p:nvPr>
        </p:nvSpPr>
        <p:spPr>
          <a:xfrm>
            <a:off x="581192" y="515606"/>
            <a:ext cx="7989900" cy="812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a:t>PAPER PUBLICATION</a:t>
            </a:r>
            <a:endParaRPr/>
          </a:p>
        </p:txBody>
      </p:sp>
      <p:pic>
        <p:nvPicPr>
          <p:cNvPr id="3" name="Picture 2">
            <a:extLst>
              <a:ext uri="{FF2B5EF4-FFF2-40B4-BE49-F238E27FC236}">
                <a16:creationId xmlns:a16="http://schemas.microsoft.com/office/drawing/2014/main" id="{2545C8D4-BBA0-6B88-A3CF-A96C9F2CCD06}"/>
              </a:ext>
            </a:extLst>
          </p:cNvPr>
          <p:cNvPicPr>
            <a:picLocks noChangeAspect="1"/>
          </p:cNvPicPr>
          <p:nvPr/>
        </p:nvPicPr>
        <p:blipFill>
          <a:blip r:embed="rId3"/>
          <a:stretch>
            <a:fillRect/>
          </a:stretch>
        </p:blipFill>
        <p:spPr>
          <a:xfrm>
            <a:off x="874568" y="1399443"/>
            <a:ext cx="7394863" cy="3619453"/>
          </a:xfrm>
          <a:prstGeom prst="rect">
            <a:avLst/>
          </a:prstGeom>
        </p:spPr>
      </p:pic>
    </p:spTree>
  </p:cSld>
  <p:clrMapOvr>
    <a:masterClrMapping/>
  </p:clrMapOvr>
</p:sld>
</file>

<file path=ppt/theme/theme1.xml><?xml version="1.0" encoding="utf-8"?>
<a:theme xmlns:a="http://schemas.openxmlformats.org/drawingml/2006/main" name="Dividend">
  <a:themeElements>
    <a:clrScheme name="Dividend">
      <a:dk1>
        <a:srgbClr val="000000"/>
      </a:dk1>
      <a:lt1>
        <a:srgbClr val="FFFFFF"/>
      </a:lt1>
      <a:dk2>
        <a:srgbClr val="3D3D3D"/>
      </a:dk2>
      <a:lt2>
        <a:srgbClr val="EBEBEB"/>
      </a:lt2>
      <a:accent1>
        <a:srgbClr val="465359"/>
      </a:accent1>
      <a:accent2>
        <a:srgbClr val="ED8428"/>
      </a:accent2>
      <a:accent3>
        <a:srgbClr val="E6C46D"/>
      </a:accent3>
      <a:accent4>
        <a:srgbClr val="969FA7"/>
      </a:accent4>
      <a:accent5>
        <a:srgbClr val="A9C37C"/>
      </a:accent5>
      <a:accent6>
        <a:srgbClr val="5A8071"/>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TotalTime>
  <Words>1262</Words>
  <Application>Microsoft Office PowerPoint</Application>
  <PresentationFormat>On-screen Show (16:9)</PresentationFormat>
  <Paragraphs>87</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Noto Sans Symbols</vt:lpstr>
      <vt:lpstr>Gill Sans</vt:lpstr>
      <vt:lpstr>Arial</vt:lpstr>
      <vt:lpstr>Dividend</vt:lpstr>
      <vt:lpstr>PowerPoint Presentation</vt:lpstr>
      <vt:lpstr>Problem Statement</vt:lpstr>
      <vt:lpstr>ABSTRACT</vt:lpstr>
      <vt:lpstr>TABLE OF CONTENTS</vt:lpstr>
      <vt:lpstr>INTRODUCTION</vt:lpstr>
      <vt:lpstr>Requirement Analysis &amp; Feasibility</vt:lpstr>
      <vt:lpstr>LITERATURE REVIEW</vt:lpstr>
      <vt:lpstr>Comparative Table</vt:lpstr>
      <vt:lpstr>Objectives of the Proposed Work</vt:lpstr>
      <vt:lpstr>Methodology of the Proposed Work</vt:lpstr>
      <vt:lpstr>CONCLUSION</vt:lpstr>
      <vt:lpstr>REFERENCES</vt:lpstr>
      <vt:lpstr>ACKNOWLEDGEMENT</vt:lpstr>
      <vt:lpstr>PAPER PUBLICATION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Ramya Kanagaraj</dc:creator>
  <cp:lastModifiedBy>Mugaira Pathan</cp:lastModifiedBy>
  <cp:revision>12</cp:revision>
  <dcterms:created xsi:type="dcterms:W3CDTF">2013-01-27T09:14:16Z</dcterms:created>
  <dcterms:modified xsi:type="dcterms:W3CDTF">2026-04-23T18:05:17Z</dcterms:modified>
</cp:coreProperties>
</file>